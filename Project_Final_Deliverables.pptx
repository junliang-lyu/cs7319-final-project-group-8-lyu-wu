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183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nliang-Lyu/CS5-7319-Final-Project-Group-8-LYU-WU" TargetMode="External"/><Relationship Id="rId2" Type="http://schemas.openxmlformats.org/officeDocument/2006/relationships/hyperlink" Target="https://youtu.be/1bPNWoEjNY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Layered Architecture &amp; </a:t>
            </a:r>
            <a:r>
              <a:rPr dirty="0"/>
              <a:t>Event‑Driven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CS 5/7319 Final Project – Find Treasure in SMU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6C013-C856-E396-A5DB-F55C2468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GitHub and Presentation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F1A72D-FA77-151E-0BA4-3D5BED14B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Presentation:</a:t>
            </a:r>
            <a:r>
              <a:rPr lang="en-US" altLang="zh-CN" dirty="0" err="1">
                <a:hlinkClick r:id="rId2"/>
              </a:rPr>
              <a:t>https</a:t>
            </a:r>
            <a:r>
              <a:rPr lang="en-US" altLang="zh-CN" dirty="0">
                <a:hlinkClick r:id="rId2"/>
              </a:rPr>
              <a:t>://youtu.be/1bPNWoEjNYg</a:t>
            </a:r>
            <a:endParaRPr lang="en-US" altLang="zh-CN" dirty="0"/>
          </a:p>
          <a:p>
            <a:r>
              <a:rPr lang="en-US" altLang="zh-CN" dirty="0" err="1"/>
              <a:t>GitHub:</a:t>
            </a:r>
            <a:r>
              <a:rPr lang="en-US" altLang="zh-CN" dirty="0" err="1">
                <a:hlinkClick r:id="rId3"/>
              </a:rPr>
              <a:t>Junliang-Lyu</a:t>
            </a:r>
            <a:r>
              <a:rPr lang="en-US" altLang="zh-CN" dirty="0">
                <a:hlinkClick r:id="rId3"/>
              </a:rPr>
              <a:t>/CS5-7319-Final-Project-Group-8-LYU-WU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664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Event‑Driven Architecture </a:t>
            </a:r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text-based adventure game with scenes: Town, Forest, Ruins.</a:t>
            </a:r>
          </a:p>
          <a:p>
            <a:r>
              <a:rPr dirty="0"/>
              <a:t>Player interacts via UI buttons to move, pick up items, and use items.</a:t>
            </a:r>
          </a:p>
          <a:p>
            <a:r>
              <a:rPr dirty="0"/>
              <a:t>Story progression fully driven by published events.</a:t>
            </a:r>
          </a:p>
          <a:p>
            <a:r>
              <a:rPr dirty="0"/>
              <a:t>Chosen architecture</a:t>
            </a:r>
            <a:r>
              <a:rPr lang="en-US" dirty="0"/>
              <a:t> 1</a:t>
            </a:r>
            <a:r>
              <a:rPr dirty="0"/>
              <a:t>: Event‑Driven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731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Event‑Driven Architecture </a:t>
            </a:r>
            <a:br>
              <a:rPr lang="en-US" altLang="zh-CN" dirty="0"/>
            </a:br>
            <a:r>
              <a:rPr dirty="0"/>
              <a:t>Level‑2 Component Diagram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ED601DE-8E92-9D9A-DAD9-A8B9CBE56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378167"/>
            <a:ext cx="8229600" cy="970028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Event‑Driven Architecture </a:t>
            </a:r>
            <a:br>
              <a:rPr lang="en-US" altLang="zh-CN" dirty="0"/>
            </a:br>
            <a:r>
              <a:rPr dirty="0"/>
              <a:t>Simplified Class Diagram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8D9269A-E61E-3A46-B3A1-11F360512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7474" y="1600200"/>
            <a:ext cx="4209051" cy="45259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Component to Code Mapping</a:t>
            </a:r>
            <a:br>
              <a:rPr lang="en-US" dirty="0"/>
            </a:br>
            <a:r>
              <a:rPr lang="en-US" dirty="0"/>
              <a:t>(</a:t>
            </a:r>
            <a:r>
              <a:rPr lang="en-US" altLang="zh-CN" dirty="0"/>
              <a:t>Event‑Driven Architecture)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UI → ui.py</a:t>
            </a:r>
          </a:p>
          <a:p>
            <a:r>
              <a:rPr dirty="0" err="1"/>
              <a:t>EventBus</a:t>
            </a:r>
            <a:r>
              <a:rPr dirty="0"/>
              <a:t> → event_bus.py</a:t>
            </a:r>
          </a:p>
          <a:p>
            <a:r>
              <a:rPr dirty="0"/>
              <a:t>Systems → systems.py</a:t>
            </a:r>
          </a:p>
          <a:p>
            <a:r>
              <a:rPr dirty="0"/>
              <a:t>Game State → game_state.py</a:t>
            </a:r>
          </a:p>
          <a:p>
            <a:r>
              <a:rPr dirty="0"/>
              <a:t>Event Types → events.py</a:t>
            </a:r>
          </a:p>
          <a:p>
            <a:r>
              <a:rPr dirty="0"/>
              <a:t>Composition Root → main.py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Advantages of Event‑Driven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Loose coupling between UI, logic, and state.</a:t>
            </a:r>
          </a:p>
          <a:p>
            <a:r>
              <a:t>Easy extension: add new events or systems with minimal changes.</a:t>
            </a:r>
          </a:p>
          <a:p>
            <a:r>
              <a:t>Natural model for scene changes, inventory actions, and story triggers.</a:t>
            </a:r>
          </a:p>
          <a:p>
            <a:r>
              <a:t>GameState acts as the single source of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Disadvantages</a:t>
            </a:r>
            <a:r>
              <a:rPr lang="en-US" dirty="0"/>
              <a:t> </a:t>
            </a:r>
            <a:r>
              <a:rPr lang="en-US" altLang="zh-CN" dirty="0"/>
              <a:t>of Event‑Driven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flows can be difficult to trace across multiple handlers.</a:t>
            </a:r>
          </a:p>
          <a:p>
            <a:r>
              <a:t>EventBus becomes a central dependency.</a:t>
            </a:r>
          </a:p>
          <a:p>
            <a:r>
              <a:t>Event ordering must be carefully designed.</a:t>
            </a:r>
          </a:p>
          <a:p>
            <a:r>
              <a:t>Debugging multi-step chains can be complex.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– Why It Fits Our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Gameplay is inherently event-driven (action → reaction).</a:t>
            </a:r>
          </a:p>
          <a:p>
            <a:r>
              <a:t>UI remains free of logic; systems maintain separation of concerns.</a:t>
            </a:r>
          </a:p>
          <a:p>
            <a:r>
              <a:t>Scene, inventory, and plot logic evolve independently.</a:t>
            </a:r>
          </a:p>
          <a:p>
            <a:r>
              <a:t>Supports adding new scenes, items, and mechanics easily.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Risk: event ordering bugs (e.g., incorrect item counts).</a:t>
            </a:r>
          </a:p>
          <a:p>
            <a:r>
              <a:rPr dirty="0"/>
              <a:t>Chained events require tracing UI → </a:t>
            </a:r>
            <a:r>
              <a:rPr dirty="0" err="1"/>
              <a:t>EventBus</a:t>
            </a:r>
            <a:r>
              <a:rPr dirty="0"/>
              <a:t> → Systems → </a:t>
            </a:r>
            <a:r>
              <a:rPr dirty="0" err="1"/>
              <a:t>EventBus</a:t>
            </a:r>
            <a:r>
              <a:rPr dirty="0"/>
              <a:t> → UI.</a:t>
            </a:r>
          </a:p>
          <a:p>
            <a:r>
              <a:rPr dirty="0"/>
              <a:t>Many event types can complicate management.</a:t>
            </a:r>
          </a:p>
          <a:p>
            <a:r>
              <a:rPr dirty="0"/>
              <a:t>Implementation experience confirmed these risks.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DBF6-32C2-8A6D-4728-551E6790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31C5-AD51-3916-49B9-BFCA1080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Risk </a:t>
            </a:r>
            <a:r>
              <a:rPr lang="en-US" altLang="zh-CN" dirty="0"/>
              <a:t>Evidence from Our Implementation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1F7A-84B1-7921-1A44-485DB326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• We encountered a real event-ordering bug during development:</a:t>
            </a:r>
          </a:p>
          <a:p>
            <a:pPr marL="0" indent="0">
              <a:buNone/>
            </a:pPr>
            <a:r>
              <a:rPr lang="en-US" dirty="0"/>
              <a:t> - After using the KEY item, the inventory count did not decrease.</a:t>
            </a:r>
          </a:p>
          <a:p>
            <a:pPr marL="0" indent="0">
              <a:buNone/>
            </a:pPr>
            <a:r>
              <a:rPr lang="en-US" dirty="0"/>
              <a:t> - The </a:t>
            </a:r>
            <a:r>
              <a:rPr lang="en-US" dirty="0" err="1"/>
              <a:t>ItemUsed</a:t>
            </a:r>
            <a:r>
              <a:rPr lang="en-US" dirty="0"/>
              <a:t> event was published before </a:t>
            </a:r>
            <a:r>
              <a:rPr lang="en-US" dirty="0" err="1"/>
              <a:t>GameState</a:t>
            </a:r>
            <a:r>
              <a:rPr lang="en-US" dirty="0"/>
              <a:t> finished updating.</a:t>
            </a:r>
          </a:p>
          <a:p>
            <a:pPr marL="0" indent="0">
              <a:buNone/>
            </a:pPr>
            <a:r>
              <a:rPr lang="en-US" dirty="0"/>
              <a:t>  - The UI subscribed to </a:t>
            </a:r>
            <a:r>
              <a:rPr lang="en-US" dirty="0" err="1"/>
              <a:t>ItemUsed</a:t>
            </a:r>
            <a:r>
              <a:rPr lang="en-US" dirty="0"/>
              <a:t> and refreshed immediately, reading stale state.</a:t>
            </a:r>
          </a:p>
          <a:p>
            <a:r>
              <a:rPr lang="en-US" dirty="0"/>
              <a:t>This demonstrated the architectural risk of incorrect publish.</a:t>
            </a:r>
          </a:p>
          <a:p>
            <a:r>
              <a:rPr lang="en-US" dirty="0"/>
              <a:t>The issue confirmed that Event-Driven systems require careful event ordering and handler design.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708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 Plan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CBB2B88-787E-B135-A447-EE7311AA9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915" y="1600200"/>
            <a:ext cx="6590169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D9CD1-CC93-B84B-70D7-EBD060CB9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Layered Architecture Project Overview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8BAFF0-E36B-73D9-69CE-95CEDDE80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502537"/>
            <a:ext cx="8750152" cy="472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A text-based adventure game with scenes: </a:t>
            </a:r>
            <a:endParaRPr lang="en-US" altLang="zh-CN" dirty="0"/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dirty="0"/>
              <a:t>    </a:t>
            </a:r>
            <a:r>
              <a:rPr lang="zh-CN" altLang="zh-CN" dirty="0"/>
              <a:t>Caruth Hall, Junkins Building, Library.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Player interacts via UI buttons to move between </a:t>
            </a:r>
            <a:endParaRPr lang="en-US" altLang="zh-CN" dirty="0"/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dirty="0"/>
              <a:t>    </a:t>
            </a:r>
            <a:r>
              <a:rPr lang="zh-CN" altLang="zh-CN" dirty="0"/>
              <a:t>scenes, inspect objects, talk to NPCs, </a:t>
            </a:r>
            <a:endParaRPr lang="en-US" altLang="zh-CN" dirty="0"/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dirty="0"/>
              <a:t>    </a:t>
            </a:r>
            <a:r>
              <a:rPr lang="zh-CN" altLang="zh-CN" dirty="0"/>
              <a:t>and open the final safe.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Story progression is controlled by scene modules </a:t>
            </a:r>
            <a:endParaRPr lang="en-US" altLang="zh-CN" dirty="0"/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dirty="0"/>
              <a:t>    </a:t>
            </a:r>
            <a:r>
              <a:rPr lang="zh-CN" altLang="zh-CN" dirty="0"/>
              <a:t>and a shared PlayerState in a layered structure.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dirty="0"/>
              <a:t>Chosen architecture 2: Layered Architecture.</a:t>
            </a:r>
          </a:p>
        </p:txBody>
      </p:sp>
    </p:spTree>
    <p:extLst>
      <p:ext uri="{BB962C8B-B14F-4D97-AF65-F5344CB8AC3E}">
        <p14:creationId xmlns:p14="http://schemas.microsoft.com/office/powerpoint/2010/main" val="4193917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4697D-79B7-D2C6-5EE1-B22A917C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/>
              <a:t>Layered Architecture – Component Diagram</a:t>
            </a:r>
            <a:endParaRPr lang="zh-CN" altLang="en-US" sz="4000" dirty="0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D126F0B5-FBDC-5431-3633-E85524A72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76220"/>
            <a:ext cx="8229600" cy="3973922"/>
          </a:xfrm>
        </p:spPr>
      </p:pic>
    </p:spTree>
    <p:extLst>
      <p:ext uri="{BB962C8B-B14F-4D97-AF65-F5344CB8AC3E}">
        <p14:creationId xmlns:p14="http://schemas.microsoft.com/office/powerpoint/2010/main" val="3536211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B423F-4F0E-D4E7-946F-F7F2A35C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Layered Architecture – Class Diagram</a:t>
            </a:r>
            <a:endParaRPr lang="zh-CN" altLang="en-US" dirty="0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88033603-07BB-9AC7-A19B-F5C53031A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611" y="1600200"/>
            <a:ext cx="8076777" cy="4525963"/>
          </a:xfrm>
        </p:spPr>
      </p:pic>
    </p:spTree>
    <p:extLst>
      <p:ext uri="{BB962C8B-B14F-4D97-AF65-F5344CB8AC3E}">
        <p14:creationId xmlns:p14="http://schemas.microsoft.com/office/powerpoint/2010/main" val="1343303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5270A-4022-1B10-8EBC-C36EA5E5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zh-CN" sz="4000" dirty="0"/>
            </a:br>
            <a:r>
              <a:rPr lang="en-US" altLang="zh-CN" sz="4000" dirty="0"/>
              <a:t>Component to Code Mapping</a:t>
            </a:r>
            <a:r>
              <a:rPr lang="zh-CN" altLang="en-US" sz="4000" dirty="0"/>
              <a:t>（</a:t>
            </a:r>
            <a:r>
              <a:rPr lang="en-US" altLang="zh-CN" sz="4000" dirty="0"/>
              <a:t>Layered Architecture</a:t>
            </a:r>
            <a:r>
              <a:rPr lang="zh-CN" altLang="en-US" sz="4000" dirty="0"/>
              <a:t>）</a:t>
            </a:r>
            <a:br>
              <a:rPr lang="zh-CN" altLang="en-US" sz="4000" dirty="0"/>
            </a:b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F4473-3D24-8FBF-78BB-7AFBA45BE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UI Layer → ui.py</a:t>
            </a:r>
          </a:p>
          <a:p>
            <a:r>
              <a:rPr lang="en-US" altLang="zh-CN" dirty="0"/>
              <a:t>Scene Modules → scenes/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caruth.py, junkins.py, library.py, title.py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Application Controller → main.py</a:t>
            </a:r>
          </a:p>
          <a:p>
            <a:r>
              <a:rPr lang="en-US" altLang="zh-CN" dirty="0"/>
              <a:t>Domain Model / Game State → player.py</a:t>
            </a:r>
          </a:p>
          <a:p>
            <a:r>
              <a:rPr lang="en-US" altLang="zh-CN" dirty="0"/>
              <a:t>Infrastructure / Settings → settings.py</a:t>
            </a:r>
          </a:p>
          <a:p>
            <a:r>
              <a:rPr lang="en-US" altLang="zh-CN" dirty="0"/>
              <a:t>Assets (Images / Backgrounds) → assets/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2744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920FA-3B23-E564-3CFD-294EF92F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Advantages of Layered Architecture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80F6EB-31B5-3DFE-1794-4A91DF8255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31693"/>
            <a:ext cx="814469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sz="2800" dirty="0"/>
              <a:t>Clear separation of concerns between UI, scenes, game logic, and assets.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sz="2800" dirty="0"/>
              <a:t>Each layer has a well-defined responsibility, reducing complexity.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sz="2800" dirty="0"/>
              <a:t>Easy to maintain: modifying one layer does not affect others.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sz="2800" dirty="0"/>
              <a:t>High reusability of UI and Scene classes.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sz="2800" dirty="0"/>
              <a:t>Assets and settings are isolated inside the infrastructure layer.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lang="zh-CN" altLang="zh-CN" sz="2800" dirty="0"/>
              <a:t>Easier debugging because control flow is explicit, not event-chained.</a:t>
            </a:r>
          </a:p>
        </p:txBody>
      </p:sp>
    </p:spTree>
    <p:extLst>
      <p:ext uri="{BB962C8B-B14F-4D97-AF65-F5344CB8AC3E}">
        <p14:creationId xmlns:p14="http://schemas.microsoft.com/office/powerpoint/2010/main" val="1135050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062E0-5F7B-E2D7-07B0-E60EEA4B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Disadvantages of Layered Architecture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EF2AAD-BEE6-93D8-CFC1-3A4670111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7135"/>
            <a:ext cx="8229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 coupling between layers than event-driven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must directly call scene methods, reducing flexibility.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scalable for complex, non-linear game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new mechanics sometimes requires modifying multiple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 logic must be handled manually inside scene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Harder to parallelize logic compared to event-driven handlers.</a:t>
            </a:r>
          </a:p>
        </p:txBody>
      </p:sp>
    </p:spTree>
    <p:extLst>
      <p:ext uri="{BB962C8B-B14F-4D97-AF65-F5344CB8AC3E}">
        <p14:creationId xmlns:p14="http://schemas.microsoft.com/office/powerpoint/2010/main" val="1401925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29034-5C56-E9EB-1860-D074A2A9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Rationale – Why Layered Architecture Fits Our Game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986AB9-E658-967A-43AB-E6035E4B2A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231692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game is small-scale and scene-based, matching layered structure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 transitions are straightforward (return next scene name).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and player state are simple enough to keep in a domain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rendering is consistent across scenes and easy to reuse.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code structure makes it easier for students to maintain.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beginners learning structured programming before advanced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44559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65AD0-D061-08CD-7B65-7399EF6C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Risk Analysis</a:t>
            </a:r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289277-93A0-9E8E-A2E8-AE887A5E6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2308910"/>
            <a:ext cx="82296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 Scene logic can become tightly coupled to UI if not controlled.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 Adding too many features in a single layer causes “God Objects.”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Risk: Hard dependencies on ordering (UI → Scene → UI).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 boundaries must be carefully respected.</a:t>
            </a:r>
          </a:p>
        </p:txBody>
      </p:sp>
    </p:spTree>
    <p:extLst>
      <p:ext uri="{BB962C8B-B14F-4D97-AF65-F5344CB8AC3E}">
        <p14:creationId xmlns:p14="http://schemas.microsoft.com/office/powerpoint/2010/main" val="1099865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CADB5-5A90-352F-F60A-B4BC008F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Risk Evidence from Our Implementation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EC4EB4-35E7-958D-7942-123144EF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Adding background images required UI and scene modifications simultaneously.</a:t>
            </a:r>
          </a:p>
          <a:p>
            <a:r>
              <a:rPr lang="en-US" altLang="zh-CN" dirty="0"/>
              <a:t>Inventory updates required careful coordination with scene logic.</a:t>
            </a:r>
          </a:p>
          <a:p>
            <a:r>
              <a:rPr lang="en-US" altLang="zh-CN" dirty="0"/>
              <a:t>A scene returned an unexpected string, causing the main loop to break early.</a:t>
            </a:r>
          </a:p>
          <a:p>
            <a:r>
              <a:rPr lang="en-US" altLang="zh-CN" dirty="0"/>
              <a:t>Centralized Scene class inheritance risked over-complexity.</a:t>
            </a:r>
          </a:p>
          <a:p>
            <a:r>
              <a:rPr lang="en-US" altLang="zh-CN" dirty="0"/>
              <a:t>Adding new UI components required modifications in multiple scenes.</a:t>
            </a:r>
          </a:p>
          <a:p>
            <a:pPr marL="0" indent="0">
              <a:buNone/>
            </a:pPr>
            <a:r>
              <a:rPr lang="en-US" altLang="zh-CN" dirty="0"/>
              <a:t>These issues confirm the importance of respecting boundaries and keeping layers cleanly separated.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9380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12F83-5B0D-D3E9-184B-E0257F6E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 Plan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9FC2EB-4EFE-FB37-8E6C-3B7081092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428" y="1600200"/>
            <a:ext cx="575114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87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7EF2A-7A7D-E2C7-96FA-4594A0B0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Architecture Comparison: </a:t>
            </a:r>
            <a:br>
              <a:rPr lang="en-US" altLang="zh-CN" dirty="0"/>
            </a:br>
            <a:r>
              <a:rPr lang="en-US" altLang="zh-CN" dirty="0"/>
              <a:t>Event-Driven vs. Layered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73672-A16A-8A60-68C3-6DE68D74E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b="1" dirty="0"/>
              <a:t>High-level view</a:t>
            </a:r>
          </a:p>
          <a:p>
            <a:r>
              <a:rPr lang="en-US" altLang="zh-CN" b="1" dirty="0"/>
              <a:t>Event-Driven Architecture</a:t>
            </a:r>
            <a:endParaRPr lang="en-US" altLang="zh-CN" dirty="0"/>
          </a:p>
          <a:p>
            <a:pPr lvl="1"/>
            <a:r>
              <a:rPr lang="en-US" altLang="zh-CN" dirty="0"/>
              <a:t>Core idea: </a:t>
            </a:r>
            <a:r>
              <a:rPr lang="en-US" altLang="zh-CN" i="1" dirty="0"/>
              <a:t>“action → event → handlers react”</a:t>
            </a:r>
            <a:endParaRPr lang="en-US" altLang="zh-CN" dirty="0"/>
          </a:p>
          <a:p>
            <a:pPr lvl="1"/>
            <a:r>
              <a:rPr lang="en-US" altLang="zh-CN" dirty="0"/>
              <a:t>UI publishes events to an </a:t>
            </a:r>
            <a:r>
              <a:rPr lang="en-US" altLang="zh-CN" dirty="0" err="1"/>
              <a:t>EventBus</a:t>
            </a:r>
            <a:r>
              <a:rPr lang="en-US" altLang="zh-CN" dirty="0"/>
              <a:t>, and multiple handlers process them.</a:t>
            </a:r>
          </a:p>
          <a:p>
            <a:pPr lvl="1"/>
            <a:r>
              <a:rPr lang="en-US" altLang="zh-CN" dirty="0"/>
              <a:t>Game logic is spread across different systems that subscribe to events.</a:t>
            </a:r>
          </a:p>
          <a:p>
            <a:r>
              <a:rPr lang="en-US" altLang="zh-CN" b="1" dirty="0"/>
              <a:t>Layered Architecture</a:t>
            </a:r>
            <a:endParaRPr lang="en-US" altLang="zh-CN" dirty="0"/>
          </a:p>
          <a:p>
            <a:pPr lvl="1"/>
            <a:r>
              <a:rPr lang="en-US" altLang="zh-CN" dirty="0"/>
              <a:t>Core idea: </a:t>
            </a:r>
            <a:r>
              <a:rPr lang="en-US" altLang="zh-CN" i="1" dirty="0"/>
              <a:t>“top-down control”</a:t>
            </a:r>
            <a:endParaRPr lang="en-US" altLang="zh-CN" dirty="0"/>
          </a:p>
          <a:p>
            <a:pPr lvl="1"/>
            <a:r>
              <a:rPr lang="en-US" altLang="zh-CN" dirty="0"/>
              <a:t>Clear layers: Presentation → Application → Domain → Infrastructure.</a:t>
            </a:r>
          </a:p>
          <a:p>
            <a:pPr lvl="1"/>
            <a:r>
              <a:rPr lang="en-US" altLang="zh-CN" dirty="0"/>
              <a:t>A main game loop calls scene functions/classes directly, scenes call UI and domain logic.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5143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486DC-22DC-26EB-F512-EE32551D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Dimension-by-dimension comparison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8E2320-33CC-A4BA-131D-578EEBF4C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1" dirty="0"/>
              <a:t>1) Structure and Organization</a:t>
            </a:r>
            <a:endParaRPr lang="en-US" altLang="zh-CN" dirty="0"/>
          </a:p>
          <a:p>
            <a:r>
              <a:rPr lang="en-US" altLang="zh-CN" b="1" dirty="0"/>
              <a:t>Event-Driven</a:t>
            </a:r>
            <a:endParaRPr lang="en-US" altLang="zh-CN" dirty="0"/>
          </a:p>
          <a:p>
            <a:pPr lvl="1"/>
            <a:r>
              <a:rPr lang="en-US" altLang="zh-CN" dirty="0"/>
              <a:t>Decentralized: UI, handlers, and game state are loosely connected via events.</a:t>
            </a:r>
          </a:p>
          <a:p>
            <a:pPr lvl="1"/>
            <a:r>
              <a:rPr lang="en-US" altLang="zh-CN" dirty="0"/>
              <a:t>Good for large or highly interactive systems with many different reactions.</a:t>
            </a:r>
          </a:p>
          <a:p>
            <a:r>
              <a:rPr lang="en-US" altLang="zh-CN" b="1" dirty="0"/>
              <a:t>Layered</a:t>
            </a:r>
            <a:endParaRPr lang="en-US" altLang="zh-CN" dirty="0"/>
          </a:p>
          <a:p>
            <a:pPr lvl="1"/>
            <a:r>
              <a:rPr lang="en-US" altLang="zh-CN" dirty="0"/>
              <a:t>Hierarchical: each layer has a clear responsibility.</a:t>
            </a:r>
          </a:p>
          <a:p>
            <a:pPr lvl="1"/>
            <a:r>
              <a:rPr lang="en-US" altLang="zh-CN" dirty="0"/>
              <a:t>Easier to understand at a glance, especially for a small game.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366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CDDB7-E6DA-940F-AEC2-20E88E45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Dimension-by-dimension comparison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0CC4C-9B99-AF5D-7F44-F63FBA437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2) Control Flow</a:t>
            </a:r>
            <a:endParaRPr lang="en-US" altLang="zh-CN" dirty="0"/>
          </a:p>
          <a:p>
            <a:r>
              <a:rPr lang="en-US" altLang="zh-CN" b="1" dirty="0"/>
              <a:t>Event-Driven</a:t>
            </a:r>
            <a:endParaRPr lang="en-US" altLang="zh-CN" dirty="0"/>
          </a:p>
          <a:p>
            <a:pPr lvl="1"/>
            <a:r>
              <a:rPr lang="en-US" altLang="zh-CN" dirty="0"/>
              <a:t>Indirect: user actions become events, events are dispatched, handlers update state, UI reacts.</a:t>
            </a:r>
          </a:p>
          <a:p>
            <a:pPr lvl="1"/>
            <a:r>
              <a:rPr lang="en-US" altLang="zh-CN" dirty="0"/>
              <a:t>Harder to see the full call chain; you must mentally follow the event path.</a:t>
            </a:r>
          </a:p>
          <a:p>
            <a:r>
              <a:rPr lang="en-US" altLang="zh-CN" b="1" dirty="0"/>
              <a:t>Layered</a:t>
            </a:r>
            <a:endParaRPr lang="en-US" altLang="zh-CN" dirty="0"/>
          </a:p>
          <a:p>
            <a:pPr lvl="1"/>
            <a:r>
              <a:rPr lang="en-US" altLang="zh-CN" dirty="0"/>
              <a:t>Direct: </a:t>
            </a:r>
            <a:r>
              <a:rPr lang="en-US" altLang="zh-CN" dirty="0" err="1"/>
              <a:t>GameMain</a:t>
            </a:r>
            <a:r>
              <a:rPr lang="en-US" altLang="zh-CN" dirty="0"/>
              <a:t> decides which scene to run, scenes call UI functions and update </a:t>
            </a:r>
            <a:r>
              <a:rPr lang="en-US" altLang="zh-CN" dirty="0" err="1"/>
              <a:t>PlayerState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The execution path for “click → scene → state change → next scene” is explicit and easy to trace.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2665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AF5DE-819D-698A-DAD9-3C22B5E5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Dimension-by-dimension comparison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791D80-24BD-0649-921B-472B4DFFA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3) Coupling and Dependencies</a:t>
            </a:r>
            <a:endParaRPr lang="en-US" altLang="zh-CN" dirty="0"/>
          </a:p>
          <a:p>
            <a:r>
              <a:rPr lang="en-US" altLang="zh-CN" b="1" dirty="0"/>
              <a:t>Event-Driven</a:t>
            </a:r>
            <a:endParaRPr lang="en-US" altLang="zh-CN" dirty="0"/>
          </a:p>
          <a:p>
            <a:pPr lvl="1"/>
            <a:r>
              <a:rPr lang="en-US" altLang="zh-CN" dirty="0"/>
              <a:t>Loose coupling between UI and game logic: UI does not know who will handle an event.</a:t>
            </a:r>
          </a:p>
          <a:p>
            <a:pPr lvl="1"/>
            <a:r>
              <a:rPr lang="en-US" altLang="zh-CN" dirty="0"/>
              <a:t>However, the </a:t>
            </a:r>
            <a:r>
              <a:rPr lang="en-US" altLang="zh-CN" dirty="0" err="1"/>
              <a:t>EventBus</a:t>
            </a:r>
            <a:r>
              <a:rPr lang="en-US" altLang="zh-CN" dirty="0"/>
              <a:t> becomes a central dependency and must be carefully designed.</a:t>
            </a:r>
          </a:p>
          <a:p>
            <a:r>
              <a:rPr lang="en-US" altLang="zh-CN" b="1" dirty="0"/>
              <a:t>Layered</a:t>
            </a:r>
            <a:endParaRPr lang="en-US" altLang="zh-CN" dirty="0"/>
          </a:p>
          <a:p>
            <a:pPr lvl="1"/>
            <a:r>
              <a:rPr lang="en-US" altLang="zh-CN" dirty="0"/>
              <a:t>Stronger coupling: scenes directly depend on UI and </a:t>
            </a:r>
            <a:r>
              <a:rPr lang="en-US" altLang="zh-CN" dirty="0" err="1"/>
              <a:t>PlayerState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But these dependencies are simple and predictable, which is acceptable for this project’s scale.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94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4F104-7A75-FEB8-207F-72353D1D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Dimension-by-dimension comparison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BDE26-7FC9-682C-4349-61E2934F8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dirty="0"/>
              <a:t>4) Extensibility and Scalability</a:t>
            </a:r>
            <a:endParaRPr lang="en-US" altLang="zh-CN" dirty="0"/>
          </a:p>
          <a:p>
            <a:r>
              <a:rPr lang="en-US" altLang="zh-CN" b="1" dirty="0"/>
              <a:t>Event-Driven</a:t>
            </a:r>
            <a:endParaRPr lang="en-US" altLang="zh-CN" dirty="0"/>
          </a:p>
          <a:p>
            <a:pPr lvl="1"/>
            <a:r>
              <a:rPr lang="en-US" altLang="zh-CN" dirty="0"/>
              <a:t>Very extensible: adding a new feature is often just “add a new event type + handler”.</a:t>
            </a:r>
          </a:p>
          <a:p>
            <a:pPr lvl="1"/>
            <a:r>
              <a:rPr lang="en-US" altLang="zh-CN" dirty="0"/>
              <a:t>Scales well when many independent systems need to react to the same events.</a:t>
            </a:r>
          </a:p>
          <a:p>
            <a:r>
              <a:rPr lang="en-US" altLang="zh-CN" b="1" dirty="0"/>
              <a:t>Layered</a:t>
            </a:r>
            <a:endParaRPr lang="en-US" altLang="zh-CN" dirty="0"/>
          </a:p>
          <a:p>
            <a:pPr lvl="1"/>
            <a:r>
              <a:rPr lang="en-US" altLang="zh-CN" dirty="0"/>
              <a:t>Extensible, but not as flexible: new behaviors may require updates in several layers (scene, UI, maybe domain).</a:t>
            </a:r>
          </a:p>
          <a:p>
            <a:pPr lvl="1"/>
            <a:r>
              <a:rPr lang="en-US" altLang="zh-CN" dirty="0"/>
              <a:t>More suitable for medium-size, not huge, systems.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0025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777CC-46FC-41BA-8883-E3E143E42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Dimension-by-dimension comparison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77777E-DAF4-49F2-2BA0-5AA5BC382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b="1" dirty="0"/>
              <a:t>5) Debugging and Testing</a:t>
            </a:r>
            <a:endParaRPr lang="en-US" altLang="zh-CN" dirty="0"/>
          </a:p>
          <a:p>
            <a:r>
              <a:rPr lang="en-US" altLang="zh-CN" b="1" dirty="0"/>
              <a:t>Event-Driven</a:t>
            </a:r>
            <a:endParaRPr lang="en-US" altLang="zh-CN" dirty="0"/>
          </a:p>
          <a:p>
            <a:pPr lvl="1"/>
            <a:r>
              <a:rPr lang="en-US" altLang="zh-CN" dirty="0"/>
              <a:t>Harder to debug multi-step chains: event ordering and handler registration can easily cause subtle bugs.</a:t>
            </a:r>
          </a:p>
          <a:p>
            <a:pPr lvl="1"/>
            <a:r>
              <a:rPr lang="en-US" altLang="zh-CN" dirty="0"/>
              <a:t>In our prototype, we even hit a real event-ordering bug (UI reading stale state before </a:t>
            </a:r>
            <a:r>
              <a:rPr lang="en-US" altLang="zh-CN" dirty="0" err="1"/>
              <a:t>GameState</a:t>
            </a:r>
            <a:r>
              <a:rPr lang="en-US" altLang="zh-CN" dirty="0"/>
              <a:t> was updated).</a:t>
            </a:r>
          </a:p>
          <a:p>
            <a:r>
              <a:rPr lang="en-US" altLang="zh-CN" b="1" dirty="0"/>
              <a:t>Layered</a:t>
            </a:r>
            <a:endParaRPr lang="en-US" altLang="zh-CN" dirty="0"/>
          </a:p>
          <a:p>
            <a:pPr lvl="1"/>
            <a:r>
              <a:rPr lang="en-US" altLang="zh-CN" dirty="0"/>
              <a:t>Easier to debug: call stack directly shows which scene and function caused the problem.</a:t>
            </a:r>
          </a:p>
          <a:p>
            <a:pPr lvl="1"/>
            <a:r>
              <a:rPr lang="en-US" altLang="zh-CN" dirty="0"/>
              <a:t>No hidden asynchronous event chains; logic is mostly sequential.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900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F9C78-B3CF-1A84-F003-A9B2AAB3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Dimension-by-dimension comparison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D0C4C-9BC6-945E-748D-4905380B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b="1" dirty="0"/>
              <a:t>6) Fit for “Find Treasure in SMU”</a:t>
            </a:r>
            <a:endParaRPr lang="en-US" altLang="zh-CN" dirty="0"/>
          </a:p>
          <a:p>
            <a:r>
              <a:rPr lang="en-US" altLang="zh-CN" b="1" dirty="0"/>
              <a:t>Event-Driven</a:t>
            </a:r>
            <a:endParaRPr lang="en-US" altLang="zh-CN" dirty="0"/>
          </a:p>
          <a:p>
            <a:pPr lvl="1"/>
            <a:r>
              <a:rPr lang="en-US" altLang="zh-CN" dirty="0"/>
              <a:t>Powerful, but overkill for a small, linear, story-driven game.</a:t>
            </a:r>
          </a:p>
          <a:p>
            <a:pPr lvl="1"/>
            <a:r>
              <a:rPr lang="en-US" altLang="zh-CN" dirty="0"/>
              <a:t>The game does not need many independent systems reacting in parallel.</a:t>
            </a:r>
          </a:p>
          <a:p>
            <a:r>
              <a:rPr lang="en-US" altLang="zh-CN" b="1" dirty="0"/>
              <a:t>Layered</a:t>
            </a:r>
            <a:endParaRPr lang="en-US" altLang="zh-CN" dirty="0"/>
          </a:p>
          <a:p>
            <a:pPr lvl="1"/>
            <a:r>
              <a:rPr lang="en-US" altLang="zh-CN" dirty="0"/>
              <a:t>Matches the structure of the game naturally:</a:t>
            </a:r>
          </a:p>
          <a:p>
            <a:pPr lvl="2"/>
            <a:r>
              <a:rPr lang="en-US" altLang="zh-CN" dirty="0"/>
              <a:t>A few scenes (Caruth, Junkins, Library)</a:t>
            </a:r>
          </a:p>
          <a:p>
            <a:pPr lvl="2"/>
            <a:r>
              <a:rPr lang="en-US" altLang="zh-CN" dirty="0"/>
              <a:t>A simple </a:t>
            </a:r>
            <a:r>
              <a:rPr lang="en-US" altLang="zh-CN" dirty="0" err="1"/>
              <a:t>PlayerState</a:t>
            </a:r>
            <a:endParaRPr lang="en-US" altLang="zh-CN" dirty="0"/>
          </a:p>
          <a:p>
            <a:pPr lvl="2"/>
            <a:r>
              <a:rPr lang="en-US" altLang="zh-CN" dirty="0"/>
              <a:t>Deterministic puzzle logic and scene transitions</a:t>
            </a:r>
          </a:p>
          <a:p>
            <a:pPr lvl="1"/>
            <a:r>
              <a:rPr lang="en-US" altLang="zh-CN" dirty="0"/>
              <a:t>Easier for classmates and instructors to read and grade.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4262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04D5E-AF88-5ED4-72E5-9671BFF9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Why We Ultimately Chose the </a:t>
            </a:r>
            <a:br>
              <a:rPr lang="en-US" altLang="zh-CN" dirty="0"/>
            </a:br>
            <a:r>
              <a:rPr lang="en-US" altLang="zh-CN" dirty="0"/>
              <a:t>Layered Architecture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7B91A-CDEE-D78D-1EBA-B3E921CC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Although the event-driven architecture is more flexible and theoretically powerful, it introduced </a:t>
            </a:r>
            <a:r>
              <a:rPr lang="en-US" altLang="zh-CN" b="1" dirty="0"/>
              <a:t>practical issues</a:t>
            </a:r>
            <a:r>
              <a:rPr lang="en-US" altLang="zh-CN" dirty="0"/>
              <a:t> in our small project:</a:t>
            </a:r>
          </a:p>
          <a:p>
            <a:r>
              <a:rPr lang="en-US" altLang="zh-CN" dirty="0"/>
              <a:t>We experienced a </a:t>
            </a:r>
            <a:r>
              <a:rPr lang="en-US" altLang="zh-CN" b="1" dirty="0"/>
              <a:t>real event-ordering bug</a:t>
            </a:r>
            <a:r>
              <a:rPr lang="en-US" altLang="zh-CN" dirty="0"/>
              <a:t> in the event-driven prototype (UI reacted to an </a:t>
            </a:r>
            <a:r>
              <a:rPr lang="en-US" altLang="zh-CN" dirty="0" err="1"/>
              <a:t>ItemUsed</a:t>
            </a:r>
            <a:r>
              <a:rPr lang="en-US" altLang="zh-CN" dirty="0"/>
              <a:t> event before the game state had finished updating), which exposed the risk of incorrect event sequencing.</a:t>
            </a:r>
          </a:p>
          <a:p>
            <a:r>
              <a:rPr lang="en-US" altLang="zh-CN" dirty="0"/>
              <a:t>Debugging event chains across multiple handlers and the </a:t>
            </a:r>
            <a:r>
              <a:rPr lang="en-US" altLang="zh-CN" dirty="0" err="1"/>
              <a:t>EventBus</a:t>
            </a:r>
            <a:r>
              <a:rPr lang="en-US" altLang="zh-CN" dirty="0"/>
              <a:t> was noticeably harder than simply stepping through scene functions in a layered design.</a:t>
            </a:r>
          </a:p>
          <a:p>
            <a:r>
              <a:rPr lang="en-US" altLang="zh-CN" dirty="0"/>
              <a:t>For our game, the flow is essentially:</a:t>
            </a:r>
            <a:br>
              <a:rPr lang="en-US" altLang="zh-CN" dirty="0"/>
            </a:br>
            <a:r>
              <a:rPr lang="en-US" altLang="zh-CN" b="1" dirty="0"/>
              <a:t>Title → Caruth Hall → Junkins → Library → Ending</a:t>
            </a:r>
            <a:r>
              <a:rPr lang="en-US" altLang="zh-CN" dirty="0"/>
              <a:t>,</a:t>
            </a:r>
            <a:br>
              <a:rPr lang="en-US" altLang="zh-CN" dirty="0"/>
            </a:br>
            <a:r>
              <a:rPr lang="en-US" altLang="zh-CN" dirty="0"/>
              <a:t>which is a </a:t>
            </a:r>
            <a:r>
              <a:rPr lang="en-US" altLang="zh-CN" b="1" dirty="0"/>
              <a:t>sequential story</a:t>
            </a:r>
            <a:r>
              <a:rPr lang="en-US" altLang="zh-CN" dirty="0"/>
              <a:t>, not a highly reactive system.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0997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5159D-C714-84AD-EDF8-6DBB7A3D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In contrast, the </a:t>
            </a:r>
            <a:r>
              <a:rPr lang="en-US" altLang="zh-CN" b="1" dirty="0"/>
              <a:t>Layered Architecture</a:t>
            </a:r>
            <a:r>
              <a:rPr lang="en-US" altLang="zh-CN" dirty="0"/>
              <a:t> provided clear benefits: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5071E-BEFB-F20B-12B4-EF3BE5E13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 Simplicity and Clarity</a:t>
            </a:r>
          </a:p>
          <a:p>
            <a:pPr marL="0" indent="0">
              <a:buNone/>
            </a:pPr>
            <a:r>
              <a:rPr lang="en-US" altLang="zh-CN" dirty="0"/>
              <a:t>2. Easier</a:t>
            </a:r>
            <a:r>
              <a:rPr lang="en-US" altLang="zh-CN" b="1" dirty="0"/>
              <a:t> </a:t>
            </a:r>
            <a:r>
              <a:rPr lang="en-US" altLang="zh-CN" dirty="0"/>
              <a:t>Debugging and Maintenance</a:t>
            </a:r>
          </a:p>
          <a:p>
            <a:pPr marL="0" indent="0">
              <a:buNone/>
            </a:pPr>
            <a:r>
              <a:rPr lang="en-US" altLang="zh-CN" dirty="0"/>
              <a:t>3. Better Fit for Course Project Scope</a:t>
            </a:r>
          </a:p>
          <a:p>
            <a:pPr marL="0" indent="0">
              <a:buNone/>
            </a:pPr>
            <a:r>
              <a:rPr lang="en-US" altLang="zh-CN" dirty="0"/>
              <a:t>4. Lower Architectural Risk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572453-22DC-50DC-B9DE-3EC0B4CB5EBE}"/>
              </a:ext>
            </a:extLst>
          </p:cNvPr>
          <p:cNvSpPr txBox="1"/>
          <p:nvPr/>
        </p:nvSpPr>
        <p:spPr>
          <a:xfrm>
            <a:off x="766292" y="4153436"/>
            <a:ext cx="7507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Therefore, after implementing and evaluating both versions, we chose the Layered Architecture as the final architecture for the project, because it offers the best balance between clarity, maintainability, and suitability for a small, scene-based adventure game like “Find Treasure in SMU”.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46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1626</Words>
  <Application>Microsoft Office PowerPoint</Application>
  <PresentationFormat>全屏显示(4:3)</PresentationFormat>
  <Paragraphs>171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Layered Architecture &amp; Event‑Driven Architecture</vt:lpstr>
      <vt:lpstr>GitHub and Presentation</vt:lpstr>
      <vt:lpstr>Event‑Driven Architecture Project Overview</vt:lpstr>
      <vt:lpstr>Event‑Driven Architecture  Level‑2 Component Diagram</vt:lpstr>
      <vt:lpstr>Event‑Driven Architecture  Simplified Class Diagram</vt:lpstr>
      <vt:lpstr>Component to Code Mapping (Event‑Driven Architecture)</vt:lpstr>
      <vt:lpstr>Advantages of Event‑Driven Architecture</vt:lpstr>
      <vt:lpstr>Disadvantages of Event‑Driven Architecture</vt:lpstr>
      <vt:lpstr>Rationale – Why It Fits Our Game</vt:lpstr>
      <vt:lpstr>Risk Analysis</vt:lpstr>
      <vt:lpstr>Risk Evidence from Our Implementation</vt:lpstr>
      <vt:lpstr>Demo Plan</vt:lpstr>
      <vt:lpstr>Layered Architecture Project Overview</vt:lpstr>
      <vt:lpstr>Layered Architecture – Component Diagram</vt:lpstr>
      <vt:lpstr>Layered Architecture – Class Diagram</vt:lpstr>
      <vt:lpstr> Component to Code Mapping（Layered Architecture） </vt:lpstr>
      <vt:lpstr>Advantages of Layered Architecture</vt:lpstr>
      <vt:lpstr>Disadvantages of Layered Architecture</vt:lpstr>
      <vt:lpstr>Rationale – Why Layered Architecture Fits Our Game</vt:lpstr>
      <vt:lpstr>Risk Analysis</vt:lpstr>
      <vt:lpstr>Risk Evidence from Our Implementation</vt:lpstr>
      <vt:lpstr>Demo Plan</vt:lpstr>
      <vt:lpstr>Architecture Comparison:  Event-Driven vs. Layered</vt:lpstr>
      <vt:lpstr>Dimension-by-dimension comparison</vt:lpstr>
      <vt:lpstr>Dimension-by-dimension comparison</vt:lpstr>
      <vt:lpstr>Dimension-by-dimension comparison</vt:lpstr>
      <vt:lpstr>Dimension-by-dimension comparison</vt:lpstr>
      <vt:lpstr>Dimension-by-dimension comparison</vt:lpstr>
      <vt:lpstr>Dimension-by-dimension comparison</vt:lpstr>
      <vt:lpstr>Why We Ultimately Chose the  Layered Architecture</vt:lpstr>
      <vt:lpstr>In contrast, the Layered Architecture provided clear benefits: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Xiangwang Wu</dc:creator>
  <cp:keywords/>
  <dc:description>generated using python-pptx</dc:description>
  <cp:lastModifiedBy>俊良 吕</cp:lastModifiedBy>
  <cp:revision>7</cp:revision>
  <dcterms:created xsi:type="dcterms:W3CDTF">2013-01-27T09:14:16Z</dcterms:created>
  <dcterms:modified xsi:type="dcterms:W3CDTF">2025-11-19T21:13:35Z</dcterms:modified>
  <cp:category/>
</cp:coreProperties>
</file>